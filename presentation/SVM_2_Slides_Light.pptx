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32F57"/>
                </a:solidFill>
                <a:latin typeface="Aptos"/>
              </a:defRPr>
            </a:pPr>
            <a:r>
              <a:t>Support Vector Machine (SVM)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36374"/>
                </a:solidFill>
                <a:latin typeface="Aptos"/>
              </a:defRPr>
            </a:pPr>
            <a:r>
              <a:t>Methodology · Linear Pegasos and Random Fourier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4767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1  Classification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Standard (0) vs Premium (1) property listings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14 features: 7 numeric + 7 property-type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Train-only imputation and standardization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Premium threshold: training median = 210,000 AZN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476756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2  Linear Pegasos 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Minimizes L2-regularized hinge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Stochastic subgradient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71800"/>
            <a:ext cx="4983480" cy="658368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12724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J(w,b) = (λ/2)||w||² + mean max(0, 1 − y(w·x+b))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51960"/>
            <a:ext cx="548640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31139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3  Nonlinear extension: RFF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Approximates an RBF kernel via random Fourier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Applies Pegasos in the transformed feature space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44068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311396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4  Validation experiment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5488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Linear: λ = 0.01; 135,354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25780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RFF: γ = 1; 500 components; λ = 0.0001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7607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32F57"/>
                </a:solidFill>
                <a:latin typeface="Aptos"/>
              </a:defRPr>
            </a:pPr>
            <a:r>
              <a:t>• RFF: 20,000 updates; seed = 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3737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374"/>
                </a:solidFill>
                <a:latin typeface="Aptos"/>
              </a:defRPr>
            </a:pPr>
            <a:r>
              <a:t>Validation results only · Held-out test not 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32F57"/>
                </a:solidFill>
                <a:latin typeface="Aptos"/>
              </a:defRPr>
            </a:pPr>
            <a:r>
              <a:t>Results: Linear vs RFF SVM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36374"/>
                </a:solidFill>
                <a:latin typeface="Aptos"/>
              </a:defRPr>
            </a:pPr>
            <a:r>
              <a:t>Validation performance · 9,668 listings · 14-feature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685800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43103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Validation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920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920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920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920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22576"/>
            <a:ext cx="6583680" cy="493776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4414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F57"/>
                </a:solidFill>
                <a:latin typeface="Aptos"/>
              </a:defRPr>
            </a:pPr>
            <a:r>
              <a:t>Linear Pegasos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414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F57"/>
                </a:solidFill>
                <a:latin typeface="Aptos"/>
              </a:defRPr>
            </a:pPr>
            <a:r>
              <a:t>0.7783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414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F57"/>
                </a:solidFill>
                <a:latin typeface="Aptos"/>
              </a:defRPr>
            </a:pPr>
            <a:r>
              <a:t>0.7751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4414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F57"/>
                </a:solidFill>
                <a:latin typeface="Aptos"/>
              </a:defRPr>
            </a:pPr>
            <a:r>
              <a:t>0.7766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4414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32F57"/>
                </a:solidFill>
                <a:latin typeface="Aptos"/>
              </a:defRPr>
            </a:pPr>
            <a:r>
              <a:t>0.7759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2"/>
            <a:ext cx="6583680" cy="493776"/>
          </a:xfrm>
          <a:prstGeom prst="roundRect">
            <a:avLst/>
          </a:prstGeom>
          <a:solidFill>
            <a:srgbClr val="E2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0266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RFF Pegasos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0266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0.8198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0266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0.7788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02666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0.8874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302666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0.8295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371600"/>
            <a:ext cx="402336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1544" y="1431036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Validation confusion matrices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85623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Linear Pegasos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258568"/>
            <a:ext cx="1078992" cy="640080"/>
          </a:xfrm>
          <a:prstGeom prst="roundRect">
            <a:avLst/>
          </a:prstGeom>
          <a:solidFill>
            <a:srgbClr val="DA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441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3816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2258568"/>
            <a:ext cx="1078992" cy="640080"/>
          </a:xfrm>
          <a:prstGeom prst="roundRect">
            <a:avLst/>
          </a:prstGeom>
          <a:solidFill>
            <a:srgbClr val="FA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441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1076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2980944"/>
            <a:ext cx="1078992" cy="640080"/>
          </a:xfrm>
          <a:prstGeom prst="roundRect">
            <a:avLst/>
          </a:prstGeom>
          <a:solidFill>
            <a:srgbClr val="FA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1" y="31638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1067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0848" y="2980944"/>
            <a:ext cx="1078992" cy="640080"/>
          </a:xfrm>
          <a:prstGeom prst="roundRect">
            <a:avLst/>
          </a:prstGeom>
          <a:solidFill>
            <a:srgbClr val="DA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31638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3709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730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374"/>
                </a:solidFill>
                <a:latin typeface="Aptos"/>
              </a:defRPr>
            </a:pPr>
            <a:r>
              <a:t>Predicted: Standard /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096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F57"/>
                </a:solidFill>
                <a:latin typeface="Aptos"/>
              </a:defRPr>
            </a:pPr>
            <a:r>
              <a:t>RFF Pegasos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498848"/>
            <a:ext cx="1078992" cy="640080"/>
          </a:xfrm>
          <a:prstGeom prst="roundRect">
            <a:avLst/>
          </a:prstGeom>
          <a:solidFill>
            <a:srgbClr val="DA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431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3688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0848" y="4498848"/>
            <a:ext cx="1078992" cy="640080"/>
          </a:xfrm>
          <a:prstGeom prst="roundRect">
            <a:avLst/>
          </a:prstGeom>
          <a:solidFill>
            <a:srgbClr val="FA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1204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221224"/>
            <a:ext cx="1078992" cy="640080"/>
          </a:xfrm>
          <a:prstGeom prst="roundRect">
            <a:avLst/>
          </a:prstGeom>
          <a:solidFill>
            <a:srgbClr val="FA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5404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538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70848" y="5221224"/>
            <a:ext cx="1078992" cy="640080"/>
          </a:xfrm>
          <a:prstGeom prst="roundRect">
            <a:avLst/>
          </a:prstGeom>
          <a:solidFill>
            <a:srgbClr val="DA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5404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F57"/>
                </a:solidFill>
                <a:latin typeface="Aptos"/>
              </a:defRPr>
            </a:pPr>
            <a:r>
              <a:t>4238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971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36374"/>
                </a:solidFill>
                <a:latin typeface="Aptos"/>
              </a:defRPr>
            </a:pPr>
            <a:r>
              <a:t>Predicted: Standard / Premium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023360"/>
            <a:ext cx="6858000" cy="384048"/>
          </a:xfrm>
          <a:prstGeom prst="roundRect">
            <a:avLst/>
          </a:prstGeom>
          <a:solidFill>
            <a:srgbClr val="EB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" y="408279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F57"/>
                </a:solidFill>
                <a:latin typeface="Aptos"/>
              </a:defRPr>
            </a:pPr>
            <a:r>
              <a:t>What changed with RFF?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590288"/>
            <a:ext cx="6446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32F57"/>
                </a:solidFill>
                <a:latin typeface="Aptos"/>
              </a:defRPr>
            </a:pPr>
            <a:r>
              <a:t>• F1 increased from 77.59% to 82.95% (+5.37 pp)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138928"/>
            <a:ext cx="6446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32F57"/>
                </a:solidFill>
                <a:latin typeface="Aptos"/>
              </a:defRPr>
            </a:pPr>
            <a:r>
              <a:t>• False negatives dropped: 1,067 → 538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687568"/>
            <a:ext cx="6446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32F57"/>
                </a:solidFill>
                <a:latin typeface="Aptos"/>
              </a:defRPr>
            </a:pPr>
            <a:r>
              <a:t>• False positives rose: 1,076 → 1,204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23620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69B7"/>
                </a:solidFill>
                <a:latin typeface="Aptos"/>
              </a:defRPr>
            </a:pPr>
            <a:r>
              <a:t>Trade-off: better premium recall, with more false alarms.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