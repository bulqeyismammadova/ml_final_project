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2720caa5d488a" /><Relationship Type="http://schemas.openxmlformats.org/officeDocument/2006/relationships/extended-properties" Target="/docProps/app.xml" Id="Re87097b72f014784" /><Relationship Type="http://schemas.openxmlformats.org/officeDocument/2006/relationships/officeDocument" Target="/ppt/presentation.xml" Id="Rfdda58b78fcc46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5aa3b4ad7e49fd"/>
  </p:sldMasterIdLst>
  <p:notesMasterIdLst>
    <p:notesMasterId xmlns:r="http://schemas.openxmlformats.org/officeDocument/2006/relationships" r:id="Rfeb1753b37644382"/>
  </p:notesMasterIdLst>
  <p:sldIdLst>
    <p:sldId xmlns:r="http://schemas.openxmlformats.org/officeDocument/2006/relationships" id="256" r:id="Re1c63055a51c4cc6"/>
    <p:sldId xmlns:r="http://schemas.openxmlformats.org/officeDocument/2006/relationships" id="257" r:id="R5936d008fffc4979"/>
    <p:sldId xmlns:r="http://schemas.openxmlformats.org/officeDocument/2006/relationships" id="258" r:id="R203381e4261a41c8"/>
    <p:sldId xmlns:r="http://schemas.openxmlformats.org/officeDocument/2006/relationships" id="259" r:id="Rd8b4fbd53d7a4a99"/>
    <p:sldId xmlns:r="http://schemas.openxmlformats.org/officeDocument/2006/relationships" id="260" r:id="R0e8b19ed36304d74"/>
    <p:sldId xmlns:r="http://schemas.openxmlformats.org/officeDocument/2006/relationships" id="261" r:id="Re3a207fac1f64ac1"/>
    <p:sldId xmlns:r="http://schemas.openxmlformats.org/officeDocument/2006/relationships" id="262" r:id="Rb50dfd3c24df489a"/>
    <p:sldId xmlns:r="http://schemas.openxmlformats.org/officeDocument/2006/relationships" id="263" r:id="R03db11e2ed504a44"/>
    <p:sldId xmlns:r="http://schemas.openxmlformats.org/officeDocument/2006/relationships" id="264" r:id="R832cbddf63a546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783aaec9794591" /><Relationship Type="http://schemas.openxmlformats.org/officeDocument/2006/relationships/slideMaster" Target="/ppt/slideMasters/slideMaster1.xml" Id="Rda5aa3b4ad7e49fd" /><Relationship Type="http://schemas.openxmlformats.org/officeDocument/2006/relationships/notesMaster" Target="/ppt/notesMasters/notesMaster1.xml" Id="Rfeb1753b37644382" /><Relationship Type="http://schemas.openxmlformats.org/officeDocument/2006/relationships/presProps" Target="/ppt/presProps.xml" Id="R92f6e1b85c0a4a6a" /><Relationship Type="http://schemas.openxmlformats.org/officeDocument/2006/relationships/tableStyles" Target="/ppt/tableStyles.xml" Id="Ra315f0cddca943c6" /><Relationship Type="http://schemas.openxmlformats.org/officeDocument/2006/relationships/slide" Target="/ppt/slides/slide1.xml" Id="Re1c63055a51c4cc6" /><Relationship Type="http://schemas.openxmlformats.org/officeDocument/2006/relationships/slide" Target="/ppt/slides/slide2.xml" Id="R5936d008fffc4979" /><Relationship Type="http://schemas.openxmlformats.org/officeDocument/2006/relationships/slide" Target="/ppt/slides/slide3.xml" Id="R203381e4261a41c8" /><Relationship Type="http://schemas.openxmlformats.org/officeDocument/2006/relationships/slide" Target="/ppt/slides/slide4.xml" Id="Rd8b4fbd53d7a4a99" /><Relationship Type="http://schemas.openxmlformats.org/officeDocument/2006/relationships/slide" Target="/ppt/slides/slide5.xml" Id="R0e8b19ed36304d74" /><Relationship Type="http://schemas.openxmlformats.org/officeDocument/2006/relationships/slide" Target="/ppt/slides/slide6.xml" Id="Re3a207fac1f64ac1" /><Relationship Type="http://schemas.openxmlformats.org/officeDocument/2006/relationships/slide" Target="/ppt/slides/slide7.xml" Id="Rb50dfd3c24df489a" /><Relationship Type="http://schemas.openxmlformats.org/officeDocument/2006/relationships/slide" Target="/ppt/slides/slide8.xml" Id="R03db11e2ed504a44" /><Relationship Type="http://schemas.openxmlformats.org/officeDocument/2006/relationships/slide" Target="/ppt/slides/slide9.xml" Id="R832cbddf63a546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e7439d39e641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2d30e58e41437b" /><Relationship Type="http://schemas.openxmlformats.org/officeDocument/2006/relationships/notesMaster" Target="/ppt/notesMasters/notesMaster1.xml" Id="R339b2380e9444c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9df48281a24b3a" /><Relationship Type="http://schemas.openxmlformats.org/officeDocument/2006/relationships/notesMaster" Target="/ppt/notesMasters/notesMaster1.xml" Id="Rcf049899299149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ce03c5abec4b84" /><Relationship Type="http://schemas.openxmlformats.org/officeDocument/2006/relationships/notesMaster" Target="/ppt/notesMasters/notesMaster1.xml" Id="R8788a9c75d1b4e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a6d20b92894226" /><Relationship Type="http://schemas.openxmlformats.org/officeDocument/2006/relationships/notesMaster" Target="/ppt/notesMasters/notesMaster1.xml" Id="Rbc5af318853040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150ac307c745ed" /><Relationship Type="http://schemas.openxmlformats.org/officeDocument/2006/relationships/notesMaster" Target="/ppt/notesMasters/notesMaster1.xml" Id="R813ef1bf73244a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18b09e959c48a8" /><Relationship Type="http://schemas.openxmlformats.org/officeDocument/2006/relationships/notesMaster" Target="/ppt/notesMasters/notesMaster1.xml" Id="R6dd6bef90a6b4d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7481c78d34761" /><Relationship Type="http://schemas.openxmlformats.org/officeDocument/2006/relationships/notesMaster" Target="/ppt/notesMasters/notesMaster1.xml" Id="R791963d0da9b44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e0baf15bf84ba6" /><Relationship Type="http://schemas.openxmlformats.org/officeDocument/2006/relationships/notesMaster" Target="/ppt/notesMasters/notesMaster1.xml" Id="Rb4bafd138bf44e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eafb633f464e66" /><Relationship Type="http://schemas.openxmlformats.org/officeDocument/2006/relationships/notesMaster" Target="/ppt/notesMasters/notesMaster1.xml" Id="R3efc307b6eed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PROJECT_STATEMENT.pdf; report/report.tex. Review status is explicit because full member names and effort percentages need team agreement.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results/summary.json and report/report.tex. Threshold is fixed from training rows before holdout scoring.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src/data_prep.py, src/run_all.py, tests/test_run_all.py and report/report.tex. Integrated protocol differs from separate exploratory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src/decision_tree.py, src/run_all.py, report/report.tex and results/summary.json. The separate tree experiments use a different split and are not mixed into headline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src/svm.py, src/run_all.py and results/summary.json. Ulvi's separate SVM slides use a different validation experiment (9,668 rows), so their values are not inserted into this common-split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results/summary.json, generated by python -m src.run_all. CV values are training-fold mean and sample standard deviation.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results/summary.json from the integrated full seeded run. Test AUC is computed from scores, not hard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results/summary.json and report/report.tex. These are descriptive held-out errors, not causal effects.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contribution_report.md and current Git history. Do not infer effort percentages from commit counts; full names and percentages require team approval. A coding assistant supported drafting and testing, disclosed in report/report.tex.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1451aad9c49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57c6f86b04e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dbfb9735d40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a9f4a42a84d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6996bd4a949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ed414e50843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223F61-8705-43D8-8277-A5F7A850C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DC5FB4-A95C-4061-A495-AD2EAB536F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639FCD-5BA7-42E2-9168-04708FFBD5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BDBA7F-8085-46ED-BC98-F34BE7319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C7D605-2267-45D1-A573-923D1C2F26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908A86-0616-4AB6-B605-05F0CEBC73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A4CF14-3B2D-48A9-9E2D-2AB7731D67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A90B58-1841-4F32-8612-558272B64A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048F84-A043-4103-B9FF-F5C39E51C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78C328-4898-4563-91D8-14A07E1C86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f6cc66412416a" /><Relationship Type="http://schemas.openxmlformats.org/officeDocument/2006/relationships/slideLayout" Target="/ppt/slideLayouts/slideLayout1.xml" Id="R3b56e79b382f4f69" /><Relationship Type="http://schemas.openxmlformats.org/officeDocument/2006/relationships/slideLayout" Target="/ppt/slideLayouts/slideLayout2.xml" Id="R7258164d3e454db6" /><Relationship Type="http://schemas.openxmlformats.org/officeDocument/2006/relationships/slideLayout" Target="/ppt/slideLayouts/slideLayout3.xml" Id="Rbd5234cd88644444" /><Relationship Type="http://schemas.openxmlformats.org/officeDocument/2006/relationships/slideLayout" Target="/ppt/slideLayouts/slideLayout4.xml" Id="R5559e5ad713a48f2" /><Relationship Type="http://schemas.openxmlformats.org/officeDocument/2006/relationships/slideLayout" Target="/ppt/slideLayouts/slideLayout5.xml" Id="R612810d6e00d4f91" /><Relationship Type="http://schemas.openxmlformats.org/officeDocument/2006/relationships/slideLayout" Target="/ppt/slideLayouts/slideLayout6.xml" Id="R044a1534adc340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6e79b382f4f69"/>
    <p:sldLayoutId xmlns:r="http://schemas.openxmlformats.org/officeDocument/2006/relationships" id="2147483650" r:id="R7258164d3e454db6"/>
    <p:sldLayoutId xmlns:r="http://schemas.openxmlformats.org/officeDocument/2006/relationships" id="2147483651" r:id="Rbd5234cd88644444"/>
    <p:sldLayoutId xmlns:r="http://schemas.openxmlformats.org/officeDocument/2006/relationships" id="2147483652" r:id="R5559e5ad713a48f2"/>
    <p:sldLayoutId xmlns:r="http://schemas.openxmlformats.org/officeDocument/2006/relationships" id="2147483653" r:id="R612810d6e00d4f91"/>
    <p:sldLayoutId xmlns:r="http://schemas.openxmlformats.org/officeDocument/2006/relationships" id="2147483654" r:id="R044a1534adc340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320a0e1df4ae6" /><Relationship Type="http://schemas.openxmlformats.org/officeDocument/2006/relationships/notesSlide" Target="/ppt/notesSlides/notesSlide1.xml" Id="R686b73a5b44a4e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569a2b0ed4f8a" /><Relationship Type="http://schemas.openxmlformats.org/officeDocument/2006/relationships/notesSlide" Target="/ppt/notesSlides/notesSlide2.xml" Id="R98c0019656ba40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2edbba3944f71" /><Relationship Type="http://schemas.openxmlformats.org/officeDocument/2006/relationships/notesSlide" Target="/ppt/notesSlides/notesSlide3.xml" Id="R3bcdad4f67e2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e2516eda14414" /><Relationship Type="http://schemas.openxmlformats.org/officeDocument/2006/relationships/notesSlide" Target="/ppt/notesSlides/notesSlide4.xml" Id="R1fa263419d9e41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4b5006ad345d1" /><Relationship Type="http://schemas.openxmlformats.org/officeDocument/2006/relationships/notesSlide" Target="/ppt/notesSlides/notesSlide5.xml" Id="Rd1ddafe031f546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e194efadb49c0" /><Relationship Type="http://schemas.openxmlformats.org/officeDocument/2006/relationships/notesSlide" Target="/ppt/notesSlides/notesSlide6.xml" Id="R70aa498392a145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34995856c4fe3" /><Relationship Type="http://schemas.openxmlformats.org/officeDocument/2006/relationships/notesSlide" Target="/ppt/notesSlides/notesSlide7.xml" Id="Rbd5fc7a3b80f4e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e9853638244d1" /><Relationship Type="http://schemas.openxmlformats.org/officeDocument/2006/relationships/notesSlide" Target="/ppt/notesSlides/notesSlide8.xml" Id="R5bad979535fd4e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837c12a0a44fc" /><Relationship Type="http://schemas.openxmlformats.org/officeDocument/2006/relationships/notesSlide" Target="/ppt/notesSlides/notesSlide9.xml" Id="Rcd05872864ff4c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E8F43-85A4-48CE-9338-9660167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Azerbaijani property listings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77ED0-10C4-481D-9FE4-DFD0E88F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From-scratch decision trees and Pegasos SVMs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1D5E8-4283-4EF4-861D-D348FAB1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1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85572-E2E1-4575-95CB-A8987D8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Price regression and premium-tier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4899C-79CC-4610-A44E-7B8F35A1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MLE-AI-201 Machine Learning. Team project. 17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E5D0A-8C60-4653-A101-C2DB91D1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Review draft: confirm full author names and effort split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675464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837C6-AAE2-4A40-83AA-C8862AB0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One dataset, two prediction tasks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6813A-10CC-4782-B282-FE059CBC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Kaggle bina.az sale listings; asking prices in AZN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09BC2-F35D-48DE-9BBB-9810900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BE327-C2B6-4AA9-9401-0B9FB9F0A898}"/>
              </a:ext>
            </a:extLst>
          </p:cNvPr>
          <p:cNvGraphicFramePr/>
          <p:nvPr/>
        </p:nvGraphicFramePr>
        <p:xfrm>
          <a:off xmlns:a="http://schemas.openxmlformats.org/drawingml/2006/main" x="590550" y="2047875"/>
          <a:ext xmlns:a="http://schemas.openxmlformats.org/drawingml/2006/main" cx="110109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010400"/>
              </a:tblGrid>
              <a:tr h="609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stage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 / definition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Raw file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100,775 listings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After URL deduplication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64,454 listings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Train / validation / 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45,118 / 9,667 / 9,669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Premium threshold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210,000 AZN (training median)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574CC-60B4-4A6E-B9BB-FB03369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Regression predicts sale price. Classification predicts above-median price.</a:t>
            </a:r>
          </a:p>
        </p:txBody>
      </p:sp>
    </p:spTree>
    <p:extLst>
      <p:ext uri="{BB962C8B-B14F-4D97-AF65-F5344CB8AC3E}">
        <p14:creationId xmlns:p14="http://schemas.microsoft.com/office/powerpoint/2010/main" val="1272403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5EED3-7585-47DF-BE13-67A39BC9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Preparation and fair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592DD-5255-45AE-976B-12E7A056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A single seeded split supports all headline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462CE-3AEE-434F-9C0B-721471EB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BF7E6-A6D1-4739-A496-9469FF0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14 encoded features from listing attributes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4D151-DAE7-4604-B57D-20F08431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Training-only medians, category vocabulary and SVM scaling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8F529-0934-4541-BAE5-E6C9EB8E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Validation selects settings; test rows are evaluated once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BBF7D-73EC-40A9-AF79-2D687C23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Three-fold CV refits preprocessing inside each training 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DD6EF-783C-430F-9815-DD900BA0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Leakage guard: remove unit_price and total_price, which derive from the target.</a:t>
            </a:r>
          </a:p>
        </p:txBody>
      </p:sp>
    </p:spTree>
    <p:extLst>
      <p:ext uri="{BB962C8B-B14F-4D97-AF65-F5344CB8AC3E}">
        <p14:creationId xmlns:p14="http://schemas.microsoft.com/office/powerpoint/2010/main" val="1828269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D120B-733B-4144-AA2E-222BA7FB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Decision tree built in NumPy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E96B5-7BC8-4A8B-89DA-D7C2E4AD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Shared split search supports both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A1F74-B73A-40D1-9A83-F8D86C9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8F8A7-F7E6-4D99-A99B-5D7D7E74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Sort feature values and test midpoints between distinct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FAF49-A3B3-439C-8F95-BAEF2F2C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Classification uses Gini or entropy; regression uses squared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5D0E2-B4EB-432A-9D60-E853D71A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Stop by depth, leaf size or impurity improvement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0B21B-B0F7-492E-BE10-10A6170D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Validation chose depth 12 for regression and 10 for 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C8C97-4D02-4879-BC87-D100EF45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The from-scratch trees nearly match the corresponding sklearn baselines.</a:t>
            </a:r>
          </a:p>
        </p:txBody>
      </p:sp>
    </p:spTree>
    <p:extLst>
      <p:ext uri="{BB962C8B-B14F-4D97-AF65-F5344CB8AC3E}">
        <p14:creationId xmlns:p14="http://schemas.microsoft.com/office/powerpoint/2010/main" val="2083356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A2529-178C-447A-980D-2F27DC9F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Pegasos SVM built in NumPy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3FEBF-D99A-46DB-88B0-5C8E1FA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Linear hinge-loss classifier plus nonlinear RFF extension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DB03E-0764-48B2-A86E-F0C1F096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801FD-8547-4D63-81A8-47405A34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Labels: standard = -1, premium = +1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436E7-5517-4E7C-988A-CF0557B4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Stochastic subgradient updates with decreasing step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78CC3-B15B-4897-8EE2-0CDFD902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RFF approximates an RBF kernel before Pegasos fitting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B217C-6355-45C9-B7DA-D1C70D70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Validation selected lambda, update budget and RFF bandwidth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95EE2-F8E2-4602-B060-FCD76EB4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RFF improves test F1 from 0.777 to 0.806 on the integrated split.</a:t>
            </a:r>
          </a:p>
        </p:txBody>
      </p:sp>
    </p:spTree>
    <p:extLst>
      <p:ext uri="{BB962C8B-B14F-4D97-AF65-F5344CB8AC3E}">
        <p14:creationId xmlns:p14="http://schemas.microsoft.com/office/powerpoint/2010/main" val="753848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D2A7A-6B59-49B5-89D8-799831E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Held-out price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D4E40-46C6-4347-BF46-650698FF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Test: 9,669 listings; three-fold CV uses training rows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808AC-EEF9-4EC8-8FD3-1AF06413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6C0F8-AE8F-464A-BC8B-30FE7EA5B354}"/>
              </a:ext>
            </a:extLst>
          </p:cNvPr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110109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076450"/>
                <a:gridCol w="2238375"/>
                <a:gridCol w="1000125"/>
                <a:gridCol w="3219450"/>
              </a:tblGrid>
              <a:tr h="603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(k AZN)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(k AZN)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CV log-RMSE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Our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103.3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759.1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0.227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0.409 ± 0.018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sklearn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103.5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759.2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0.227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0.408 ± 0.018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F76C6-6C1B-4A8C-A7D2-975A3F9B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101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Close baseline agreement; the luxury tail dominates RMSE.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C7C25-A4F0-4DA7-BD30-370E8A6C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Errors are back-transformed and reported in AZN.</a:t>
            </a:r>
          </a:p>
        </p:txBody>
      </p:sp>
    </p:spTree>
    <p:extLst>
      <p:ext uri="{BB962C8B-B14F-4D97-AF65-F5344CB8AC3E}">
        <p14:creationId xmlns:p14="http://schemas.microsoft.com/office/powerpoint/2010/main" val="26171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1527A-BDEC-4574-9AAB-042DF415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Held-out premium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CFD8F-C68E-4CCC-A8E8-71D0AEB2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Premium means price above the 210,000 AZN training median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D331F-1C5F-40A3-BF31-56D9273E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2701B-D220-4BED-B233-9864E0198727}"/>
              </a:ext>
            </a:extLst>
          </p:cNvPr>
          <p:cNvGraphicFramePr/>
          <p:nvPr/>
        </p:nvGraphicFramePr>
        <p:xfrm>
          <a:off xmlns:a="http://schemas.openxmlformats.org/drawingml/2006/main" x="590550" y="1743075"/>
          <a:ext xmlns:a="http://schemas.openxmlformats.org/drawingml/2006/main" cx="110109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00250"/>
                <a:gridCol w="2000250"/>
                <a:gridCol w="2819400"/>
              </a:tblGrid>
              <a:tr h="5619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AUC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3-fold CV 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Our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0.967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0.897 ± 0.001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sklearn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0.967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0.897 ± 0.001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Our linear Pegasos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0.777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0.774 ± 0.013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sklearn SGD hinge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0.778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0.778 ± 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Our RFF Pegasos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0.807 ± 0.006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48573-FF3A-45BC-AA8F-4B47C8E3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The tree leads on F1. RFF adds 2.9 percentage points over linear Pegasos.</a:t>
            </a:r>
          </a:p>
        </p:txBody>
      </p:sp>
    </p:spTree>
    <p:extLst>
      <p:ext uri="{BB962C8B-B14F-4D97-AF65-F5344CB8AC3E}">
        <p14:creationId xmlns:p14="http://schemas.microsoft.com/office/powerpoint/2010/main" val="555853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F8243-93F2-40E0-B500-5DCD782E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Where the models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B05EB-9E1C-4202-941A-FA53BCF9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Luxury listing prices produce disproportionate regression error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4B9E5-EC3B-41B4-918C-39BBCD8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95862-CBD5-48CD-85DA-2D4B5BE1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85 test listings above the 2.5M AZN training 99th percentile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0DE75-C574-440A-AEFC-A53F4F70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3.64M AZN mean absolute error in that tail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084CD-C0A2-4C95-B9C0-21B9AF11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72.0k AZN mean absolute error for the other 9,584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501E8-78E6-479B-A97C-44D093D6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2"/>
                </a:solidFill>
                <a:latin typeface="Arial"/>
                <a:ea typeface="Arial"/>
                <a:cs typeface="Arial"/>
              </a:rPr>
              <a:t>90.6% of high-price listings are underpredicted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E51E1-1921-4D25-8232-44D6DEA1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Next: verify suspicious listings and test on a later market scrape.</a:t>
            </a:r>
          </a:p>
        </p:txBody>
      </p:sp>
    </p:spTree>
    <p:extLst>
      <p:ext uri="{BB962C8B-B14F-4D97-AF65-F5344CB8AC3E}">
        <p14:creationId xmlns:p14="http://schemas.microsoft.com/office/powerpoint/2010/main" val="770069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17D49-5559-4722-9E08-B18D82BD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B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2"/>
                </a:solidFill>
                <a:latin typeface="Arial"/>
                <a:ea typeface="Arial"/>
                <a:cs typeface="Arial"/>
              </a:rPr>
              <a:t>Team work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30874-86B4-49DE-ABF3-CA4702D5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Responsibilities visible in Git history; percentages need team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29EBE-C02B-4465-8F7B-EEF72D1D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6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8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50811-9846-4705-88CC-4FA10A42B2C6}"/>
              </a:ext>
            </a:extLst>
          </p:cNvPr>
          <p:cNvGraphicFramePr/>
          <p:nvPr/>
        </p:nvGraphicFramePr>
        <p:xfrm>
          <a:off xmlns:a="http://schemas.openxmlformats.org/drawingml/2006/main" x="590550" y="1924050"/>
          <a:ext xmlns:a="http://schemas.openxmlformats.org/drawingml/2006/main" cx="110109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77150"/>
              </a:tblGrid>
              <a:tr h="62293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GitHub handle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T w="9525">
                      <a:solidFill>
                        <a:srgbClr val="E5EEF1"/>
                      </a:solidFill>
                      <a:prstDash val="solid"/>
                    </a:lnT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142B42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nhesen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Data cleaning, features and EDA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BulqeyisMammadova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Decision tree, experiments and forest bonus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Ulvi022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Pegasos SVM, RFF and SVM experiments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daduu16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EEF1"/>
                      </a:solidFill>
                      <a:prstDash val="solid"/>
                    </a:lnL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B42"/>
                          </a:solidFill>
                          <a:latin typeface="Arial"/>
                          <a:ea typeface="Arial"/>
                          <a:cs typeface="Arial"/>
                        </a:rPr>
                        <a:t>Integration, metrics, baselines, report and results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EEF1"/>
                      </a:solidFill>
                      <a:prstDash val="solid"/>
                    </a:lnR>
                    <a:lnB w="9525">
                      <a:solidFill>
                        <a:srgbClr val="E5EEF1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6CAA1-DAE1-426D-974D-C36AE098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101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Reproduce with python -m src.run_all. All 19 integration tests pass.</a:t>
            </a:r>
          </a:p>
        </p:txBody>
      </p:sp>
    </p:spTree>
    <p:extLst>
      <p:ext uri="{BB962C8B-B14F-4D97-AF65-F5344CB8AC3E}">
        <p14:creationId xmlns:p14="http://schemas.microsoft.com/office/powerpoint/2010/main" val="2094545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2026-10-17T14:01:00.1540000Z</dcterms:created>
  <dcterms:modified xsi:type="dcterms:W3CDTF">2026-10-17T14:01:00.1540000Z</dcterms:modified>
</coreProperties>
</file>