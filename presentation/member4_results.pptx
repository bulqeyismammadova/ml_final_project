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d21c2465a44d86" /><Relationship Type="http://schemas.openxmlformats.org/officeDocument/2006/relationships/extended-properties" Target="/docProps/app.xml" Id="Rb9e8dc1ff35d4f4d" /><Relationship Type="http://schemas.openxmlformats.org/officeDocument/2006/relationships/officeDocument" Target="/ppt/presentation.xml" Id="R26c4af00bc0646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002b0ac45845be"/>
  </p:sldMasterIdLst>
  <p:notesMasterIdLst>
    <p:notesMasterId xmlns:r="http://schemas.openxmlformats.org/officeDocument/2006/relationships" r:id="R23fb6fb23e1645b7"/>
  </p:notesMasterIdLst>
  <p:sldIdLst>
    <p:sldId xmlns:r="http://schemas.openxmlformats.org/officeDocument/2006/relationships" id="256" r:id="R9354adf9a5254906"/>
    <p:sldId xmlns:r="http://schemas.openxmlformats.org/officeDocument/2006/relationships" id="257" r:id="R745f5147bad848b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11c63a72f24ac9" /><Relationship Type="http://schemas.openxmlformats.org/officeDocument/2006/relationships/slideMaster" Target="/ppt/slideMasters/slideMaster1.xml" Id="R56002b0ac45845be" /><Relationship Type="http://schemas.openxmlformats.org/officeDocument/2006/relationships/notesMaster" Target="/ppt/notesMasters/notesMaster1.xml" Id="R23fb6fb23e1645b7" /><Relationship Type="http://schemas.openxmlformats.org/officeDocument/2006/relationships/presProps" Target="/ppt/presProps.xml" Id="R09741d157e8b4ea9" /><Relationship Type="http://schemas.openxmlformats.org/officeDocument/2006/relationships/tableStyles" Target="/ppt/tableStyles.xml" Id="R7d297b7beaf4422b" /><Relationship Type="http://schemas.openxmlformats.org/officeDocument/2006/relationships/slide" Target="/ppt/slides/slide1.xml" Id="R9354adf9a5254906" /><Relationship Type="http://schemas.openxmlformats.org/officeDocument/2006/relationships/slide" Target="/ppt/slides/slide2.xml" Id="R745f5147bad848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fe7f5e504f42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6ea6fabdd343d3" /><Relationship Type="http://schemas.openxmlformats.org/officeDocument/2006/relationships/notesMaster" Target="/ppt/notesMasters/notesMaster1.xml" Id="Rff18fb5b5c034d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2d4fc50675438a" /><Relationship Type="http://schemas.openxmlformats.org/officeDocument/2006/relationships/notesMaster" Target="/ppt/notesMasters/notesMaster1.xml" Id="R7d94b6ca832b43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results/summary.json, generated by python -m src.run_all on Kaggle binaaz-sale-project version 1. All settings were chosen on validation only. RMSE and MAE are back-transformed price errors. CV is three folds over the training split; timing is machine-specific.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results/summary.json from the full seeded run. Premium label threshold is fitted on the training median. The tree and Pegasos models are NumPy implementations; sklearn models are comparison baselines. CV reports mean and sample standard deviation across three training folds.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c1e171adfa465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549bc0454d476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0cf614e57944d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bf85fc7418497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2883760c9140c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af3f4e946244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5FE5BB8-A36B-49BD-841E-DEE72D9376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8E87E04-5EC1-4144-8A19-C7DD3DA0324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47E28DF-553E-48A6-AD74-0BB79719A7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690BC7D-220E-4255-9CEA-517449EE46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E136A8C-20B8-4A45-9E15-44170114AD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8F8976B-BB2B-48AC-B56E-23102763BC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7D0D16F-A239-477D-9A82-878AFA5019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FEB7FD3-2EF5-4879-B4DD-F1ED1445953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BB96916-95CA-42E7-805D-872666B8CB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203745E-196A-4773-9919-DA87BB6408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b9665d32ce4f25" /><Relationship Type="http://schemas.openxmlformats.org/officeDocument/2006/relationships/slideLayout" Target="/ppt/slideLayouts/slideLayout1.xml" Id="R7b474b3a9edf4100" /><Relationship Type="http://schemas.openxmlformats.org/officeDocument/2006/relationships/slideLayout" Target="/ppt/slideLayouts/slideLayout2.xml" Id="R2f93dbb65f414d16" /><Relationship Type="http://schemas.openxmlformats.org/officeDocument/2006/relationships/slideLayout" Target="/ppt/slideLayouts/slideLayout3.xml" Id="R6005e0eb9db946b0" /><Relationship Type="http://schemas.openxmlformats.org/officeDocument/2006/relationships/slideLayout" Target="/ppt/slideLayouts/slideLayout4.xml" Id="R807abe9a1ef34043" /><Relationship Type="http://schemas.openxmlformats.org/officeDocument/2006/relationships/slideLayout" Target="/ppt/slideLayouts/slideLayout5.xml" Id="R981a5e1ba11d4e1c" /><Relationship Type="http://schemas.openxmlformats.org/officeDocument/2006/relationships/slideLayout" Target="/ppt/slideLayouts/slideLayout6.xml" Id="R516619dce3d246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474b3a9edf4100"/>
    <p:sldLayoutId xmlns:r="http://schemas.openxmlformats.org/officeDocument/2006/relationships" id="2147483650" r:id="R2f93dbb65f414d16"/>
    <p:sldLayoutId xmlns:r="http://schemas.openxmlformats.org/officeDocument/2006/relationships" id="2147483651" r:id="R6005e0eb9db946b0"/>
    <p:sldLayoutId xmlns:r="http://schemas.openxmlformats.org/officeDocument/2006/relationships" id="2147483652" r:id="R807abe9a1ef34043"/>
    <p:sldLayoutId xmlns:r="http://schemas.openxmlformats.org/officeDocument/2006/relationships" id="2147483653" r:id="R981a5e1ba11d4e1c"/>
    <p:sldLayoutId xmlns:r="http://schemas.openxmlformats.org/officeDocument/2006/relationships" id="2147483654" r:id="R516619dce3d246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4052517101434f" /><Relationship Type="http://schemas.openxmlformats.org/officeDocument/2006/relationships/notesSlide" Target="/ppt/notesSlides/notesSlide1.xml" Id="R0ed33f9666a14b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a1f2d39455423a" /><Relationship Type="http://schemas.openxmlformats.org/officeDocument/2006/relationships/notesSlide" Target="/ppt/notesSlides/notesSlide2.xml" Id="R2fd730f11830470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232634-45AC-4575-82CF-0DC05593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B4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42"/>
                </a:solidFill>
                <a:latin typeface="Arial"/>
                <a:ea typeface="Arial"/>
                <a:cs typeface="Arial"/>
              </a:rPr>
              <a:t>Price regression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A4642D-BAC7-496E-B9D0-6F006C09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101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266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6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678"/>
                </a:solidFill>
                <a:latin typeface="Arial"/>
                <a:ea typeface="Arial"/>
                <a:cs typeface="Arial"/>
              </a:rPr>
              <a:t>Held-out test set: 9,669 listings. Three-fold CV uses training rows only.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0CB8A3-1658-4B61-A3F7-011C1D980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38175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6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6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678"/>
                </a:solidFill>
                <a:latin typeface="Arial"/>
                <a:ea typeface="Arial"/>
                <a:cs typeface="Arial"/>
              </a:rPr>
              <a:t>1 / 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E529C6-F635-4F1C-8EA8-3429B3A181E9}"/>
              </a:ext>
            </a:extLst>
          </p:cNvPr>
          <p:cNvGraphicFramePr/>
          <p:nvPr/>
        </p:nvGraphicFramePr>
        <p:xfrm>
          <a:off xmlns:a="http://schemas.openxmlformats.org/drawingml/2006/main" x="590550" y="1943100"/>
          <a:ext xmlns:a="http://schemas.openxmlformats.org/drawingml/2006/main" cx="11010900" cy="1752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2076450"/>
                <a:gridCol w="2238375"/>
                <a:gridCol w="1000125"/>
                <a:gridCol w="3219450"/>
              </a:tblGrid>
              <a:tr h="5842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EEF1"/>
                      </a:solidFill>
                      <a:prstDash val="solid"/>
                    </a:lnL>
                    <a:lnR w="9525">
                      <a:solidFill>
                        <a:srgbClr val="E5EEF1"/>
                      </a:solidFill>
                      <a:prstDash val="solid"/>
                    </a:lnR>
                    <a:lnT w="9525">
                      <a:solidFill>
                        <a:srgbClr val="E5EEF1"/>
                      </a:solidFill>
                      <a:prstDash val="solid"/>
                    </a:lnT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142B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MAE (k AZN)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T w="9525">
                      <a:solidFill>
                        <a:srgbClr val="E5EEF1"/>
                      </a:solidFill>
                      <a:prstDash val="solid"/>
                    </a:lnT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142B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RMSE (k AZN)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T w="9525">
                      <a:solidFill>
                        <a:srgbClr val="E5EEF1"/>
                      </a:solidFill>
                      <a:prstDash val="solid"/>
                    </a:lnT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142B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R²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T w="9525">
                      <a:solidFill>
                        <a:srgbClr val="E5EEF1"/>
                      </a:solidFill>
                      <a:prstDash val="solid"/>
                    </a:lnT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142B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CV log-RMSE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T w="9525">
                      <a:solidFill>
                        <a:srgbClr val="E5EEF1"/>
                      </a:solidFill>
                      <a:prstDash val="solid"/>
                    </a:lnT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142B42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Our tree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EEF1"/>
                      </a:solidFill>
                      <a:prstDash val="solid"/>
                    </a:lnL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103.3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759.1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0.227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0.409 ± 0.018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sklearn tree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EEF1"/>
                      </a:solidFill>
                      <a:prstDash val="solid"/>
                    </a:lnL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103.5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759.2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0.227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0.408 ± 0.018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BF9357-90CD-40EE-B7FB-9B5182E8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57675"/>
            <a:ext cx="11010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87E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E86"/>
                </a:solidFill>
                <a:latin typeface="Arial"/>
                <a:ea typeface="Arial"/>
                <a:cs typeface="Arial"/>
              </a:rPr>
              <a:t>Luxury tail: 85 listings above 2.5M AZN have 3.64M AZN MAE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744EC7-E6C7-4670-AA5B-81F7CD30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149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4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42B4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B42"/>
                </a:solidFill>
                <a:latin typeface="Arial"/>
                <a:ea typeface="Arial"/>
                <a:cs typeface="Arial"/>
              </a:rPr>
              <a:t>The other 9,584 listings have 72.0k AZN MAE. The tree underpredicts 90.6% of the luxury tail.</a:t>
            </a:r>
          </a:p>
        </p:txBody>
      </p:sp>
    </p:spTree>
    <p:extLst>
      <p:ext uri="{BB962C8B-B14F-4D97-AF65-F5344CB8AC3E}">
        <p14:creationId xmlns:p14="http://schemas.microsoft.com/office/powerpoint/2010/main" val="17494683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99CCB6-934D-4469-AC67-DAA447AA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B4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42"/>
                </a:solidFill>
                <a:latin typeface="Arial"/>
                <a:ea typeface="Arial"/>
                <a:cs typeface="Arial"/>
              </a:rPr>
              <a:t>Premium-tier classification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68C452-B78B-4CFA-9CC2-96D980B3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101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266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6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678"/>
                </a:solidFill>
                <a:latin typeface="Arial"/>
                <a:ea typeface="Arial"/>
                <a:cs typeface="Arial"/>
              </a:rPr>
              <a:t>Premium means price above the 210,000 AZN training median.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AA1234-47E4-4864-B958-771DECC5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38175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6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6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678"/>
                </a:solidFill>
                <a:latin typeface="Arial"/>
                <a:ea typeface="Arial"/>
                <a:cs typeface="Arial"/>
              </a:rPr>
              <a:t>2 / 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56B3AA-E842-4A1A-8943-44E5AFD349C8}"/>
              </a:ext>
            </a:extLst>
          </p:cNvPr>
          <p:cNvGraphicFramePr/>
          <p:nvPr/>
        </p:nvGraphicFramePr>
        <p:xfrm>
          <a:off xmlns:a="http://schemas.openxmlformats.org/drawingml/2006/main" x="590550" y="1762125"/>
          <a:ext xmlns:a="http://schemas.openxmlformats.org/drawingml/2006/main" cx="11010900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2000250"/>
                <a:gridCol w="2000250"/>
                <a:gridCol w="2819400"/>
              </a:tblGrid>
              <a:tr h="54768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EEF1"/>
                      </a:solidFill>
                      <a:prstDash val="solid"/>
                    </a:lnL>
                    <a:lnR w="9525">
                      <a:solidFill>
                        <a:srgbClr val="E5EEF1"/>
                      </a:solidFill>
                      <a:prstDash val="solid"/>
                    </a:lnR>
                    <a:lnT w="9525">
                      <a:solidFill>
                        <a:srgbClr val="E5EEF1"/>
                      </a:solidFill>
                      <a:prstDash val="solid"/>
                    </a:lnT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142B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 F1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T w="9525">
                      <a:solidFill>
                        <a:srgbClr val="E5EEF1"/>
                      </a:solidFill>
                      <a:prstDash val="solid"/>
                    </a:lnT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142B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 AUC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T w="9525">
                      <a:solidFill>
                        <a:srgbClr val="E5EEF1"/>
                      </a:solidFill>
                      <a:prstDash val="solid"/>
                    </a:lnT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142B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3-fold CV F1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T w="9525">
                      <a:solidFill>
                        <a:srgbClr val="E5EEF1"/>
                      </a:solidFill>
                      <a:prstDash val="solid"/>
                    </a:lnT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142B42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Our tree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EEF1"/>
                      </a:solidFill>
                      <a:prstDash val="solid"/>
                    </a:lnL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0.904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0.967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0.897 ± 0.001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sklearn tree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EEF1"/>
                      </a:solidFill>
                      <a:prstDash val="solid"/>
                    </a:lnL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0.904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0.967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0.897 ± 0.001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Our linear Pegasos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EEF1"/>
                      </a:solidFill>
                      <a:prstDash val="solid"/>
                    </a:lnL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0.777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0.826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0.774 ± 0.013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sklearn SGD hinge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EEF1"/>
                      </a:solidFill>
                      <a:prstDash val="solid"/>
                    </a:lnL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0.778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0.839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0.778 ± 0.000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Our RFF Pegasos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EEF1"/>
                      </a:solidFill>
                      <a:prstDash val="solid"/>
                    </a:lnL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0.806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0.874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0.807 ± 0.006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CC8F8C-A9F6-4466-AD07-7FA89723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67325"/>
            <a:ext cx="11010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87E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87E86"/>
                </a:solidFill>
                <a:latin typeface="Arial"/>
                <a:ea typeface="Arial"/>
                <a:cs typeface="Arial"/>
              </a:rPr>
              <a:t>The tree leads on F1. RFF raises SVM F1 from 0.777 to 0.806.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DEEC48-7546-44EC-8A33-A68B800A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48350"/>
            <a:ext cx="1047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266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6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678"/>
                </a:solidFill>
                <a:latin typeface="Arial"/>
                <a:ea typeface="Arial"/>
                <a:cs typeface="Arial"/>
              </a:rPr>
              <a:t>Same held-out rows for all models; hyperparameters selected on validation.</a:t>
            </a:r>
          </a:p>
        </p:txBody>
      </p:sp>
    </p:spTree>
    <p:extLst>
      <p:ext uri="{BB962C8B-B14F-4D97-AF65-F5344CB8AC3E}">
        <p14:creationId xmlns:p14="http://schemas.microsoft.com/office/powerpoint/2010/main" val="16451918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2026-10-16T15:58:58.0750000Z</dcterms:created>
  <dcterms:modified xsi:type="dcterms:W3CDTF">2026-10-16T15:58:58.0750000Z</dcterms:modified>
</coreProperties>
</file>